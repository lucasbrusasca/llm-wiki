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UNIFICADO · ENTREGA FINAL 2026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6675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Algedi Architect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96596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A9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construir antes de elegir la tecnología.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3127248"/>
            <a:ext cx="1764792" cy="1143000"/>
          </a:xfrm>
          <a:prstGeom prst="roundRect">
            <a:avLst>
              <a:gd name="adj" fmla="val 4800"/>
            </a:avLst>
          </a:prstGeom>
          <a:solidFill>
            <a:srgbClr val="15243A"/>
          </a:solidFill>
          <a:ln w="12700">
            <a:solidFill>
              <a:srgbClr val="2B3D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346704"/>
            <a:ext cx="347472" cy="347472"/>
          </a:xfrm>
          <a:prstGeom prst="ellipse">
            <a:avLst/>
          </a:prstGeom>
          <a:solidFill>
            <a:srgbClr val="E34B69"/>
          </a:solidFill>
          <a:ln w="12700">
            <a:solidFill>
              <a:srgbClr val="E34B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31336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3694176"/>
            <a:ext cx="292608" cy="0"/>
          </a:xfrm>
          <a:prstGeom prst="line">
            <a:avLst/>
          </a:prstGeom>
          <a:noFill/>
          <a:ln w="17780">
            <a:solidFill>
              <a:srgbClr val="52647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3127248"/>
            <a:ext cx="1764792" cy="1143000"/>
          </a:xfrm>
          <a:prstGeom prst="roundRect">
            <a:avLst>
              <a:gd name="adj" fmla="val 4800"/>
            </a:avLst>
          </a:prstGeom>
          <a:solidFill>
            <a:srgbClr val="15243A"/>
          </a:solidFill>
          <a:ln w="12700">
            <a:solidFill>
              <a:srgbClr val="2B3D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07792" y="3346704"/>
            <a:ext cx="347472" cy="347472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07792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3831336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17136" y="3694176"/>
            <a:ext cx="292608" cy="0"/>
          </a:xfrm>
          <a:prstGeom prst="line">
            <a:avLst/>
          </a:prstGeom>
          <a:noFill/>
          <a:ln w="17780">
            <a:solidFill>
              <a:srgbClr val="5264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28032" y="3127248"/>
            <a:ext cx="1764792" cy="1143000"/>
          </a:xfrm>
          <a:prstGeom prst="roundRect">
            <a:avLst>
              <a:gd name="adj" fmla="val 4800"/>
            </a:avLst>
          </a:prstGeom>
          <a:solidFill>
            <a:srgbClr val="15243A"/>
          </a:solidFill>
          <a:ln w="12700">
            <a:solidFill>
              <a:srgbClr val="2B3D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92624" y="3346704"/>
            <a:ext cx="347472" cy="347472"/>
          </a:xfrm>
          <a:prstGeom prst="ellipse">
            <a:avLst/>
          </a:prstGeom>
          <a:solidFill>
            <a:srgbClr val="7C6AEF"/>
          </a:solidFill>
          <a:ln w="12700">
            <a:solidFill>
              <a:srgbClr val="7C6A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92624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92624" y="3831336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01968" y="3694176"/>
            <a:ext cx="292608" cy="0"/>
          </a:xfrm>
          <a:prstGeom prst="line">
            <a:avLst/>
          </a:prstGeom>
          <a:noFill/>
          <a:ln w="17780">
            <a:solidFill>
              <a:srgbClr val="52647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12864" y="3127248"/>
            <a:ext cx="1764792" cy="1143000"/>
          </a:xfrm>
          <a:prstGeom prst="roundRect">
            <a:avLst>
              <a:gd name="adj" fmla="val 4800"/>
            </a:avLst>
          </a:prstGeom>
          <a:solidFill>
            <a:srgbClr val="15243A"/>
          </a:solidFill>
          <a:ln w="12700">
            <a:solidFill>
              <a:srgbClr val="2B3D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3346704"/>
            <a:ext cx="347472" cy="347472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77456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077456" y="3831336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98280" y="1060704"/>
            <a:ext cx="2331720" cy="4005072"/>
          </a:xfrm>
          <a:prstGeom prst="roundRect">
            <a:avLst>
              <a:gd name="adj" fmla="val 2353"/>
            </a:avLst>
          </a:prstGeom>
          <a:solidFill>
            <a:srgbClr val="102C42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27464" y="1463040"/>
            <a:ext cx="1664208" cy="274320"/>
          </a:xfrm>
          <a:prstGeom prst="roundRect">
            <a:avLst>
              <a:gd name="adj" fmla="val 20000"/>
            </a:avLst>
          </a:prstGeom>
          <a:solidFill>
            <a:srgbClr val="173F58"/>
          </a:solidFill>
          <a:ln w="12700">
            <a:solidFill>
              <a:srgbClr val="173F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82328" y="147218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INICIATIVA FOCAL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427464" y="1993392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9427464" y="265176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posibles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427464" y="324612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9427464" y="378561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 + HITL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27464" y="424281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B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308592" y="4709160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 auditable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" y="5010912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FFF2D9"/>
          </a:solidFill>
          <a:ln w="12700">
            <a:solidFill>
              <a:srgbClr val="FFF2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5020056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4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SUPUESTOS, NO RESULTADOS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3054096" y="50017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volúmenes, tiempos y costos se validan en el piloto.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61722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F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Lucas Brusasca · AI Agents — De la Idea a la Implementación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 · PROBLEMA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“queremos IA” a una hipótesis comprobable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2/7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1307592"/>
            <a:ext cx="3529584" cy="4544568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54480"/>
            <a:ext cx="310896" cy="310896"/>
          </a:xfrm>
          <a:prstGeom prst="ellipse">
            <a:avLst/>
          </a:prstGeom>
          <a:solidFill>
            <a:srgbClr val="E34B69"/>
          </a:solidFill>
          <a:ln w="12700">
            <a:solidFill>
              <a:srgbClr val="E34B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5453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 &amp; usuarios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9339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herramienta se elige antes de comprender la necesidad.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278892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Usuario: responsable de innovación o datos de una PyME sin arquitecto dedicado.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33756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3246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Escenario: 6 iniciativas por trimestre; 8 h de preparación por caso.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977640"/>
            <a:ext cx="1609344" cy="274320"/>
          </a:xfrm>
          <a:prstGeom prst="roundRect">
            <a:avLst>
              <a:gd name="adj" fmla="val 20000"/>
            </a:avLst>
          </a:prstGeom>
          <a:solidFill>
            <a:srgbClr val="FFF2D9"/>
          </a:solidFill>
          <a:ln w="12700">
            <a:solidFill>
              <a:srgbClr val="FFF2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398678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04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A VALIDAR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37083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1.200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993392" y="44074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 / trimestre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86460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4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USD 2.000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993392" y="487375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incorrecto de referencia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270248" y="1307592"/>
            <a:ext cx="3675888" cy="454456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1554480"/>
            <a:ext cx="310896" cy="310896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17136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5453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As-Is &amp; Data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2039112"/>
            <a:ext cx="274320" cy="274320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919472" y="202996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Reconstruir problema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20299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2615184"/>
            <a:ext cx="274320" cy="274320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4919472" y="2606040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 evidencia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958584" y="2606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3191256"/>
            <a:ext cx="274320" cy="274320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2628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4919472" y="318211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alternativa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58584" y="31821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3767328"/>
            <a:ext cx="274320" cy="274320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262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4919472" y="375818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caso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958584" y="37581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35424" y="4389120"/>
            <a:ext cx="3108960" cy="0"/>
          </a:xfrm>
          <a:prstGeom prst="line">
            <a:avLst/>
          </a:prstGeom>
          <a:noFill/>
          <a:ln w="12700">
            <a:solidFill>
              <a:srgbClr val="D4DCE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17136" y="45902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/ GAPS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517136" y="4846320"/>
            <a:ext cx="30723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Disponibles: brief + 3–10 documentos. Ausentes: baseline real, historial y banco ciego de 12 casos, con 3 ambiguos redactados por un tercero.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183880" y="1307592"/>
            <a:ext cx="3502152" cy="4544568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30768" y="1554480"/>
            <a:ext cx="310896" cy="310896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3076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851392" y="154533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de Cambio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412480" y="2084832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DDF8EE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86216" y="215798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4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12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491472" y="2157984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clasificaciones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412480" y="274320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86216" y="28163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9491472" y="2816352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 inexistentes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412480" y="3401568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586216" y="347472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5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9491472" y="347472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12480" y="4059936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586216" y="413308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9491472" y="4133088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humana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412480" y="4946904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67344" y="4956048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ABANDONAR SI FALLA EL GATE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8412480" y="532180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éxito no es “que corra”: es demostrar calidad, trazabilidad y control.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SOLUCIÓN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B4 — Un protocolo que puede terminar en “no implementar”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F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3/7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38912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496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+ restricciones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1874520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03120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3704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0370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542032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pasajes + citas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538728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67328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6791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rutas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202936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31536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3212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870448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común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867144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95744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96328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96328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534656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objeción separada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8531352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759952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73F58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0536" y="1682496"/>
            <a:ext cx="274320" cy="27432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60536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humana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10195560" y="2066544"/>
            <a:ext cx="201168" cy="0"/>
          </a:xfrm>
          <a:prstGeom prst="line">
            <a:avLst/>
          </a:prstGeom>
          <a:noFill/>
          <a:ln w="15240">
            <a:solidFill>
              <a:srgbClr val="53698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424160" y="1517904"/>
            <a:ext cx="1417320" cy="1115568"/>
          </a:xfrm>
          <a:prstGeom prst="roundRect">
            <a:avLst>
              <a:gd name="adj" fmla="val 4918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24744" y="1682496"/>
            <a:ext cx="274320" cy="274320"/>
          </a:xfrm>
          <a:prstGeom prst="ellipse">
            <a:avLst/>
          </a:prstGeom>
          <a:solidFill>
            <a:srgbClr val="2A405D"/>
          </a:solidFill>
          <a:ln w="12700">
            <a:solidFill>
              <a:srgbClr val="2A405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52474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10863072" y="16642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533888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AA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</a:t>
            </a:r>
            <a:endParaRPr lang="en-US" sz="84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31272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RUTAS COMPARABLES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" y="3703320"/>
            <a:ext cx="219456" cy="219456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42416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Rediseño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450592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87752" y="3703320"/>
            <a:ext cx="219456" cy="219456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07792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15968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453128" y="3703320"/>
            <a:ext cx="219456" cy="219456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773168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/ BI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81344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18504" y="3703320"/>
            <a:ext cx="219456" cy="219456"/>
          </a:xfrm>
          <a:prstGeom prst="ellipse">
            <a:avLst/>
          </a:prstGeom>
          <a:solidFill>
            <a:srgbClr val="7C6AEF"/>
          </a:solidFill>
          <a:ln w="12700">
            <a:solidFill>
              <a:srgbClr val="7C6A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38544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asistiva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46720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83880" y="3703320"/>
            <a:ext cx="219456" cy="219456"/>
          </a:xfrm>
          <a:prstGeom prst="ellipse">
            <a:avLst/>
          </a:prstGeom>
          <a:solidFill>
            <a:srgbClr val="E34B69"/>
          </a:solidFill>
          <a:ln w="12700">
            <a:solidFill>
              <a:srgbClr val="E34B6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03920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912096" y="3493008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22239"/>
          </a:solidFill>
          <a:ln w="12700">
            <a:solidFill>
              <a:srgbClr val="354A6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049256" y="3703320"/>
            <a:ext cx="219456" cy="219456"/>
          </a:xfrm>
          <a:prstGeom prst="ellipse">
            <a:avLst/>
          </a:prstGeom>
          <a:solidFill>
            <a:srgbClr val="98A6BA"/>
          </a:solidFill>
          <a:ln w="12700">
            <a:solidFill>
              <a:srgbClr val="98A6B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69296" y="36027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implementar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85216" y="4507992"/>
            <a:ext cx="6903720" cy="1234440"/>
          </a:xfrm>
          <a:prstGeom prst="roundRect">
            <a:avLst>
              <a:gd name="adj" fmla="val 4444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1248" y="47365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F2A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DIFERENCIAL</a:t>
            </a:r>
            <a:endParaRPr 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841248" y="5047488"/>
            <a:ext cx="6254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entrega una respuesta descartable: conserva evidencia, alternativas, matriz, objeción, decisión, comentario, fecha y versión.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790688" y="4507992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173F58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083296" y="472744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≠ CEREBRO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8083296" y="502920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HTML representa la salida. Planner y verifier corren en el backend de Algedi.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 · SOLUCIÓN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B5 Arquitectura &amp; Tools · B6 Behaviour / To-Be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4/7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10896" cy="310896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289304"/>
            <a:ext cx="2688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&amp; Tools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048256" y="2057400"/>
            <a:ext cx="320040" cy="0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0487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9631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922776" y="2057400"/>
            <a:ext cx="320040" cy="0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7939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+ matriz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797296" y="2057400"/>
            <a:ext cx="320040" cy="0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5391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4535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objeciones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671816" y="2057400"/>
            <a:ext cx="320040" cy="0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2843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1987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1987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9546336" y="2057400"/>
            <a:ext cx="320040" cy="0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02952" y="1746504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4392" y="18562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994392" y="20939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548640" y="2651760"/>
            <a:ext cx="2011680" cy="347472"/>
          </a:xfrm>
          <a:prstGeom prst="rect">
            <a:avLst>
              <a:gd name="adj" fmla="val 15789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2648" y="267919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560320" y="2651760"/>
            <a:ext cx="2359152" cy="347472"/>
          </a:xfrm>
          <a:prstGeom prst="rect">
            <a:avLst>
              <a:gd name="adj" fmla="val 15789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24328" y="267919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919472" y="2651760"/>
            <a:ext cx="2267712" cy="347472"/>
          </a:xfrm>
          <a:prstGeom prst="rect">
            <a:avLst>
              <a:gd name="adj" fmla="val 15789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83480" y="26791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7187184" y="2651760"/>
            <a:ext cx="1115568" cy="347472"/>
          </a:xfrm>
          <a:prstGeom prst="rect">
            <a:avLst>
              <a:gd name="adj" fmla="val 15789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51192" y="267919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548640" y="2999232"/>
            <a:ext cx="2011680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" y="302666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ingest_case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560320" y="2999232"/>
            <a:ext cx="235915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24328" y="302666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/ URL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4919472" y="2999232"/>
            <a:ext cx="226771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83480" y="302666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+ nodos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7187184" y="2999232"/>
            <a:ext cx="1115568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51192" y="302666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48640" y="3346704"/>
            <a:ext cx="2011680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2648" y="337413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retrieve_evidence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2560320" y="3346704"/>
            <a:ext cx="235915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24328" y="337413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+ corpus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919472" y="3346704"/>
            <a:ext cx="226771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983480" y="337413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pasajes + fuente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187184" y="3346704"/>
            <a:ext cx="1115568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51192" y="337413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548640" y="3694176"/>
            <a:ext cx="2011680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2648" y="372160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classify_intervention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2560320" y="3694176"/>
            <a:ext cx="235915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624328" y="372160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+ evidencia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4919472" y="3694176"/>
            <a:ext cx="226771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983480" y="3721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+ supuestos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7187184" y="3694176"/>
            <a:ext cx="1115568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251192" y="372160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548640" y="4041648"/>
            <a:ext cx="2011680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2648" y="406908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compare_alternatives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2560320" y="4041648"/>
            <a:ext cx="235915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624328" y="406908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+ criterios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919472" y="4041648"/>
            <a:ext cx="226771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983480" y="40690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común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7187184" y="4041648"/>
            <a:ext cx="1115568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251192" y="40690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548640" y="4389120"/>
            <a:ext cx="2011680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12648" y="441655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verify_recommendation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2560320" y="4389120"/>
            <a:ext cx="235915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624328" y="4416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+ citas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4919472" y="4389120"/>
            <a:ext cx="226771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983480" y="441655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veredicto + gaps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7187184" y="4389120"/>
            <a:ext cx="1115568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251192" y="441655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548640" y="4736592"/>
            <a:ext cx="2011680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12648" y="47640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record_human_decision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2560320" y="4736592"/>
            <a:ext cx="235915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624328" y="4764024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+ nota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4919472" y="4736592"/>
            <a:ext cx="2267712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983480" y="476402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auditable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7187184" y="4736592"/>
            <a:ext cx="1115568" cy="347472"/>
          </a:xfrm>
          <a:prstGeom prst="rect">
            <a:avLst>
              <a:gd name="adj" fmla="val 15789"/>
            </a:avLst>
          </a:prstGeom>
          <a:solidFill>
            <a:srgbClr val="EDF2F7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251192" y="4764024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Disponible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548640" y="5084064"/>
            <a:ext cx="2011680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12648" y="511149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export_dossier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2560320" y="5084064"/>
            <a:ext cx="235915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24328" y="511149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4919472" y="5084064"/>
            <a:ext cx="2267712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983480" y="51114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 / PDF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7187184" y="5084064"/>
            <a:ext cx="1115568" cy="347472"/>
          </a:xfrm>
          <a:prstGeom prst="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251192" y="511149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8375904" y="2651760"/>
            <a:ext cx="3273552" cy="2779776"/>
          </a:xfrm>
          <a:prstGeom prst="roundRect">
            <a:avLst>
              <a:gd name="adj" fmla="val 1974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622792" y="2889504"/>
            <a:ext cx="310896" cy="310896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622792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B6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9043416" y="288036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Behaviour / To-Be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8659368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+ corpus</a:t>
            </a:r>
            <a:endParaRPr lang="en-US" sz="920" dirty="0"/>
          </a:p>
        </p:txBody>
      </p:sp>
      <p:sp>
        <p:nvSpPr>
          <p:cNvPr id="100" name="Text 98"/>
          <p:cNvSpPr txBox="1"/>
          <p:nvPr/>
        </p:nvSpPr>
        <p:spPr>
          <a:xfrm>
            <a:off x="10369296" y="331012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min</a:t>
            </a:r>
            <a:endParaRPr lang="en-US" sz="920" dirty="0"/>
          </a:p>
        </p:txBody>
      </p:sp>
      <p:sp>
        <p:nvSpPr>
          <p:cNvPr id="101" name="Text 99"/>
          <p:cNvSpPr txBox="1"/>
          <p:nvPr/>
        </p:nvSpPr>
        <p:spPr>
          <a:xfrm>
            <a:off x="8659368" y="359359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</a:t>
            </a:r>
            <a:endParaRPr lang="en-US" sz="920" dirty="0"/>
          </a:p>
        </p:txBody>
      </p:sp>
      <p:sp>
        <p:nvSpPr>
          <p:cNvPr id="102" name="Text 100"/>
          <p:cNvSpPr txBox="1"/>
          <p:nvPr/>
        </p:nvSpPr>
        <p:spPr>
          <a:xfrm>
            <a:off x="10369296" y="359359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&lt;1 min</a:t>
            </a:r>
            <a:endParaRPr lang="en-US" sz="920" dirty="0"/>
          </a:p>
        </p:txBody>
      </p:sp>
      <p:sp>
        <p:nvSpPr>
          <p:cNvPr id="103" name="Text 101"/>
          <p:cNvSpPr txBox="1"/>
          <p:nvPr/>
        </p:nvSpPr>
        <p:spPr>
          <a:xfrm>
            <a:off x="8659368" y="387705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920" dirty="0"/>
          </a:p>
        </p:txBody>
      </p:sp>
      <p:sp>
        <p:nvSpPr>
          <p:cNvPr id="104" name="Text 102"/>
          <p:cNvSpPr txBox="1"/>
          <p:nvPr/>
        </p:nvSpPr>
        <p:spPr>
          <a:xfrm>
            <a:off x="10369296" y="3877056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2–5 min</a:t>
            </a:r>
            <a:endParaRPr lang="en-US" sz="920" dirty="0"/>
          </a:p>
        </p:txBody>
      </p:sp>
      <p:sp>
        <p:nvSpPr>
          <p:cNvPr id="105" name="Text 103"/>
          <p:cNvSpPr txBox="1"/>
          <p:nvPr/>
        </p:nvSpPr>
        <p:spPr>
          <a:xfrm>
            <a:off x="8659368" y="416052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</a:t>
            </a:r>
            <a:endParaRPr lang="en-US" sz="920" dirty="0"/>
          </a:p>
        </p:txBody>
      </p:sp>
      <p:sp>
        <p:nvSpPr>
          <p:cNvPr id="106" name="Text 104"/>
          <p:cNvSpPr txBox="1"/>
          <p:nvPr/>
        </p:nvSpPr>
        <p:spPr>
          <a:xfrm>
            <a:off x="10369296" y="416052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 min</a:t>
            </a:r>
            <a:endParaRPr lang="en-US" sz="920" dirty="0"/>
          </a:p>
        </p:txBody>
      </p:sp>
      <p:sp>
        <p:nvSpPr>
          <p:cNvPr id="107" name="Text 105"/>
          <p:cNvSpPr txBox="1"/>
          <p:nvPr/>
        </p:nvSpPr>
        <p:spPr>
          <a:xfrm>
            <a:off x="8659368" y="444398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920" dirty="0"/>
          </a:p>
        </p:txBody>
      </p:sp>
      <p:sp>
        <p:nvSpPr>
          <p:cNvPr id="108" name="Text 106"/>
          <p:cNvSpPr txBox="1"/>
          <p:nvPr/>
        </p:nvSpPr>
        <p:spPr>
          <a:xfrm>
            <a:off x="10369296" y="44439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90 min</a:t>
            </a:r>
            <a:endParaRPr lang="en-US" sz="920" dirty="0"/>
          </a:p>
        </p:txBody>
      </p:sp>
      <p:sp>
        <p:nvSpPr>
          <p:cNvPr id="109" name="Shape 107"/>
          <p:cNvSpPr/>
          <p:nvPr/>
        </p:nvSpPr>
        <p:spPr>
          <a:xfrm>
            <a:off x="8650224" y="4800600"/>
            <a:ext cx="2560320" cy="274320"/>
          </a:xfrm>
          <a:prstGeom prst="roundRect">
            <a:avLst>
              <a:gd name="adj" fmla="val 20000"/>
            </a:avLst>
          </a:prstGeom>
          <a:solidFill>
            <a:srgbClr val="203A52"/>
          </a:solidFill>
          <a:ln w="12700">
            <a:solidFill>
              <a:srgbClr val="203A52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705088" y="4809744"/>
            <a:ext cx="2450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NIVEL 4 · MULTIAGENTES + HITL</a:t>
            </a:r>
            <a:endParaRPr lang="en-US" sz="800" dirty="0"/>
          </a:p>
        </p:txBody>
      </p:sp>
      <p:sp>
        <p:nvSpPr>
          <p:cNvPr id="111" name="Text 109"/>
          <p:cNvSpPr txBox="1"/>
          <p:nvPr/>
        </p:nvSpPr>
        <p:spPr>
          <a:xfrm>
            <a:off x="8659368" y="5129784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B4C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acotada: recomienda; nunca ejecuta ni aprueba inversiones.</a:t>
            </a:r>
            <a:endParaRPr lang="en-US" sz="860" dirty="0"/>
          </a:p>
        </p:txBody>
      </p:sp>
      <p:sp>
        <p:nvSpPr>
          <p:cNvPr id="112" name="Shape 110"/>
          <p:cNvSpPr/>
          <p:nvPr/>
        </p:nvSpPr>
        <p:spPr>
          <a:xfrm>
            <a:off x="548640" y="5660136"/>
            <a:ext cx="676656" cy="274320"/>
          </a:xfrm>
          <a:prstGeom prst="roundRect">
            <a:avLst>
              <a:gd name="adj" fmla="val 20000"/>
            </a:avLst>
          </a:prstGeom>
          <a:solidFill>
            <a:srgbClr val="DDF7FC"/>
          </a:solidFill>
          <a:ln w="12700">
            <a:solidFill>
              <a:srgbClr val="DDF7FC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03504" y="566928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</a:t>
            </a:r>
            <a:endParaRPr lang="en-US" sz="800" dirty="0"/>
          </a:p>
        </p:txBody>
      </p:sp>
      <p:sp>
        <p:nvSpPr>
          <p:cNvPr id="114" name="Text 112"/>
          <p:cNvSpPr txBox="1"/>
          <p:nvPr/>
        </p:nvSpPr>
        <p:spPr>
          <a:xfrm>
            <a:off x="1353312" y="565099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· FastAPI · PostgreSQL/pgvector · proveedor LLM intercambiable · Docker Compose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 · PRODUCTO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decidir, no una promesa de SaaS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5/7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30352" y="1353312"/>
            <a:ext cx="323697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618488"/>
            <a:ext cx="310896" cy="310896"/>
          </a:xfrm>
          <a:prstGeom prst="ellipse">
            <a:avLst/>
          </a:prstGeom>
          <a:solidFill>
            <a:srgbClr val="7C6AEF"/>
          </a:solidFill>
          <a:ln w="12700">
            <a:solidFill>
              <a:srgbClr val="7C6A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B7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79576" y="16093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de valor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23113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13969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 comparable y reabrible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62432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25328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Alternativas sin IA y “no implementar”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29260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Evidencia, objeción y aprobación explícitas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78808" y="1353312"/>
            <a:ext cx="323697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618488"/>
            <a:ext cx="310896" cy="310896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740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B8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16093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25696" y="223113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08576" y="213969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 de innovación / datos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25696" y="262432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8576" y="25328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Sponsor: dirección o dueño de inversión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25696" y="301752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08576" y="29260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guiado de dos semanas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827264" y="1353312"/>
            <a:ext cx="323697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55864" y="1618488"/>
            <a:ext cx="310896" cy="310896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5586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B9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16093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Costos y recursos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74152" y="223113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57032" y="213969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Activo de validación; sin revenue proyectado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74152" y="262432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57032" y="253288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 + dos evaluadores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74152" y="301752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57032" y="29260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local + inferencia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0352" y="3794760"/>
            <a:ext cx="6784848" cy="2011680"/>
          </a:xfrm>
          <a:prstGeom prst="roundRect">
            <a:avLst>
              <a:gd name="adj" fmla="val 2727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041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ECONÓMICO · A VALIDAR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4462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900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48828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 horas / trimestre</a:t>
            </a:r>
            <a:endParaRPr lang="en-US" sz="870" dirty="0"/>
          </a:p>
        </p:txBody>
      </p:sp>
      <p:sp>
        <p:nvSpPr>
          <p:cNvPr id="39" name="Text 37"/>
          <p:cNvSpPr txBox="1"/>
          <p:nvPr/>
        </p:nvSpPr>
        <p:spPr>
          <a:xfrm>
            <a:off x="2816352" y="4462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1.000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2816352" y="48828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evitado esperado</a:t>
            </a:r>
            <a:endParaRPr lang="en-US" sz="870" dirty="0"/>
          </a:p>
        </p:txBody>
      </p:sp>
      <p:sp>
        <p:nvSpPr>
          <p:cNvPr id="41" name="Text 39"/>
          <p:cNvSpPr txBox="1"/>
          <p:nvPr/>
        </p:nvSpPr>
        <p:spPr>
          <a:xfrm>
            <a:off x="4828032" y="44622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B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1.040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4828032" y="4882896"/>
            <a:ext cx="1508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inversión incremental</a:t>
            </a:r>
            <a:endParaRPr lang="en-US" sz="870" dirty="0"/>
          </a:p>
        </p:txBody>
      </p:sp>
      <p:sp>
        <p:nvSpPr>
          <p:cNvPr id="43" name="Text 41"/>
          <p:cNvSpPr txBox="1"/>
          <p:nvPr/>
        </p:nvSpPr>
        <p:spPr>
          <a:xfrm>
            <a:off x="804672" y="5358384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C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82,7% · payback 1,6 meses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3858768" y="53400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Sensibilidad sin error evitado: payback 3,5 meses.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26096" y="3794760"/>
            <a:ext cx="38679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36992" y="406908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DIFERENCIACIÓN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7936992" y="442569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chat recomienda. Architect gobierna el paso de evidencia a decisión.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7936992" y="5056632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ventaja no es el modelo: es el protocolo persistente, evaluable y con frontera humana.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17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IMPLEMENTACIÓN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B10 Integración &amp; Infra · B11 MVP + Riesgos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794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6/7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30352" y="1325880"/>
            <a:ext cx="3675888" cy="4553712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91056"/>
            <a:ext cx="310896" cy="310896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581912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&amp; Infra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057400"/>
            <a:ext cx="29809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1031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/ texto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13432" y="2432304"/>
            <a:ext cx="0" cy="146304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2596896"/>
            <a:ext cx="29809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7552" y="264261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+ metadatos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13432" y="2971800"/>
            <a:ext cx="0" cy="146304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3136392"/>
            <a:ext cx="29809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31821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+ pgvector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13432" y="3511296"/>
            <a:ext cx="0" cy="146304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3675888"/>
            <a:ext cx="2980944" cy="365760"/>
          </a:xfrm>
          <a:prstGeom prst="roundRect">
            <a:avLst>
              <a:gd name="adj" fmla="val 15000"/>
            </a:avLst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7552" y="372160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+ verifier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13432" y="4050792"/>
            <a:ext cx="0" cy="146304"/>
          </a:xfrm>
          <a:prstGeom prst="line">
            <a:avLst/>
          </a:prstGeom>
          <a:noFill/>
          <a:ln w="15240">
            <a:solidFill>
              <a:srgbClr val="9AA8B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4215384"/>
            <a:ext cx="298094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426110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956048"/>
            <a:ext cx="1627632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4965192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PRIVILEGIO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218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Sólo material propio, ficticio o público. Sin conectores productivos.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43984" y="1325880"/>
            <a:ext cx="3310128" cy="4553712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4DC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1591056"/>
            <a:ext cx="310896" cy="310896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0016" y="1591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B11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15819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de 2 semanas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718304" y="20848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718304" y="2350008"/>
            <a:ext cx="2633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clases · citas · 3 alternativas · matriz · verifier · HITL · 12 casos (3 ambiguos)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4718304" y="3090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WON’T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718304" y="3355848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SaaS · avatar · sistemas productivos · grafo 3D central · research autónomo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4151376"/>
            <a:ext cx="1335024" cy="274320"/>
          </a:xfrm>
          <a:prstGeom prst="roundRect">
            <a:avLst>
              <a:gd name="adj" fmla="val 20000"/>
            </a:avLst>
          </a:prstGeom>
          <a:solidFill>
            <a:srgbClr val="FFF2D9"/>
          </a:solidFill>
          <a:ln w="12700">
            <a:solidFill>
              <a:srgbClr val="FFF2D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4160520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04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AL DÍA 14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4718304" y="451713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 · 0 citas falsas · 100% HITL · 90% claim-cita o supuesto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718304" y="52852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34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endpoint existe; el benchmark todavía no.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91856" y="1325880"/>
            <a:ext cx="3648456" cy="4553712"/>
          </a:xfrm>
          <a:prstGeom prst="roundRect">
            <a:avLst>
              <a:gd name="adj" fmla="val 1504"/>
            </a:avLst>
          </a:prstGeom>
          <a:solidFill>
            <a:srgbClr val="0B172A"/>
          </a:solidFill>
          <a:ln w="12700">
            <a:solidFill>
              <a:srgbClr val="0B17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66176" y="16733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2A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RIESGOS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66176" y="202996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21040" y="203911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20" dirty="0"/>
          </a:p>
        </p:txBody>
      </p:sp>
      <p:sp>
        <p:nvSpPr>
          <p:cNvPr id="42" name="Text 40"/>
          <p:cNvSpPr txBox="1"/>
          <p:nvPr/>
        </p:nvSpPr>
        <p:spPr>
          <a:xfrm>
            <a:off x="9070848" y="20208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 compartido</a:t>
            </a:r>
            <a:endParaRPr lang="en-US" sz="870" dirty="0"/>
          </a:p>
        </p:txBody>
      </p:sp>
      <p:sp>
        <p:nvSpPr>
          <p:cNvPr id="43" name="Text 41"/>
          <p:cNvSpPr txBox="1"/>
          <p:nvPr/>
        </p:nvSpPr>
        <p:spPr>
          <a:xfrm>
            <a:off x="10341864" y="202082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Autor</a:t>
            </a:r>
            <a:endParaRPr lang="en-US" sz="680" dirty="0"/>
          </a:p>
        </p:txBody>
      </p:sp>
      <p:sp>
        <p:nvSpPr>
          <p:cNvPr id="44" name="Text 42"/>
          <p:cNvSpPr txBox="1"/>
          <p:nvPr/>
        </p:nvSpPr>
        <p:spPr>
          <a:xfrm>
            <a:off x="9070848" y="2240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+ HITL</a:t>
            </a:r>
            <a:endParaRPr lang="en-US" sz="770" dirty="0"/>
          </a:p>
        </p:txBody>
      </p:sp>
      <p:sp>
        <p:nvSpPr>
          <p:cNvPr id="45" name="Shape 43"/>
          <p:cNvSpPr/>
          <p:nvPr/>
        </p:nvSpPr>
        <p:spPr>
          <a:xfrm>
            <a:off x="8266176" y="257860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1040" y="258775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20" dirty="0"/>
          </a:p>
        </p:txBody>
      </p:sp>
      <p:sp>
        <p:nvSpPr>
          <p:cNvPr id="47" name="Text 45"/>
          <p:cNvSpPr txBox="1"/>
          <p:nvPr/>
        </p:nvSpPr>
        <p:spPr>
          <a:xfrm>
            <a:off x="9070848" y="256946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 irrelevante</a:t>
            </a:r>
            <a:endParaRPr lang="en-US" sz="870" dirty="0"/>
          </a:p>
        </p:txBody>
      </p:sp>
      <p:sp>
        <p:nvSpPr>
          <p:cNvPr id="48" name="Text 46"/>
          <p:cNvSpPr txBox="1"/>
          <p:nvPr/>
        </p:nvSpPr>
        <p:spPr>
          <a:xfrm>
            <a:off x="10341864" y="256946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Autor + evaluador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9070848" y="2788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claim-cita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8266176" y="312724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321040" y="313639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20" dirty="0"/>
          </a:p>
        </p:txBody>
      </p:sp>
      <p:sp>
        <p:nvSpPr>
          <p:cNvPr id="52" name="Text 50"/>
          <p:cNvSpPr txBox="1"/>
          <p:nvPr/>
        </p:nvSpPr>
        <p:spPr>
          <a:xfrm>
            <a:off x="9070848" y="311810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circular</a:t>
            </a:r>
            <a:endParaRPr lang="en-US" sz="870" dirty="0"/>
          </a:p>
        </p:txBody>
      </p:sp>
      <p:sp>
        <p:nvSpPr>
          <p:cNvPr id="53" name="Text 51"/>
          <p:cNvSpPr txBox="1"/>
          <p:nvPr/>
        </p:nvSpPr>
        <p:spPr>
          <a:xfrm>
            <a:off x="10341864" y="311810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Evaluadores</a:t>
            </a:r>
            <a:endParaRPr lang="en-US" sz="680" dirty="0"/>
          </a:p>
        </p:txBody>
      </p:sp>
      <p:sp>
        <p:nvSpPr>
          <p:cNvPr id="54" name="Text 52"/>
          <p:cNvSpPr txBox="1"/>
          <p:nvPr/>
        </p:nvSpPr>
        <p:spPr>
          <a:xfrm>
            <a:off x="9070848" y="33375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ambiguos + etiqueta ciega</a:t>
            </a:r>
            <a:endParaRPr lang="en-US" sz="770" dirty="0"/>
          </a:p>
        </p:txBody>
      </p:sp>
      <p:sp>
        <p:nvSpPr>
          <p:cNvPr id="55" name="Shape 53"/>
          <p:cNvSpPr/>
          <p:nvPr/>
        </p:nvSpPr>
        <p:spPr>
          <a:xfrm>
            <a:off x="8266176" y="367588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21040" y="368503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20" dirty="0"/>
          </a:p>
        </p:txBody>
      </p:sp>
      <p:sp>
        <p:nvSpPr>
          <p:cNvPr id="57" name="Text 55"/>
          <p:cNvSpPr txBox="1"/>
          <p:nvPr/>
        </p:nvSpPr>
        <p:spPr>
          <a:xfrm>
            <a:off x="9070848" y="366674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Taxonomía ambigua</a:t>
            </a:r>
            <a:endParaRPr lang="en-US" sz="870" dirty="0"/>
          </a:p>
        </p:txBody>
      </p:sp>
      <p:sp>
        <p:nvSpPr>
          <p:cNvPr id="58" name="Text 56"/>
          <p:cNvSpPr txBox="1"/>
          <p:nvPr/>
        </p:nvSpPr>
        <p:spPr>
          <a:xfrm>
            <a:off x="10341864" y="366674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Evaluadores</a:t>
            </a:r>
            <a:endParaRPr lang="en-US" sz="680" dirty="0"/>
          </a:p>
        </p:txBody>
      </p:sp>
      <p:sp>
        <p:nvSpPr>
          <p:cNvPr id="59" name="Text 57"/>
          <p:cNvSpPr txBox="1"/>
          <p:nvPr/>
        </p:nvSpPr>
        <p:spPr>
          <a:xfrm>
            <a:off x="9070848" y="38862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evaluadores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8266176" y="422452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F2D9"/>
          </a:solidFill>
          <a:ln w="12700">
            <a:solidFill>
              <a:srgbClr val="FFF2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21040" y="423367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0470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MEDIO</a:t>
            </a:r>
            <a:endParaRPr lang="en-US" sz="720" dirty="0"/>
          </a:p>
        </p:txBody>
      </p:sp>
      <p:sp>
        <p:nvSpPr>
          <p:cNvPr id="62" name="Text 60"/>
          <p:cNvSpPr txBox="1"/>
          <p:nvPr/>
        </p:nvSpPr>
        <p:spPr>
          <a:xfrm>
            <a:off x="9070848" y="421538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supuesto</a:t>
            </a:r>
            <a:endParaRPr lang="en-US" sz="870" dirty="0"/>
          </a:p>
        </p:txBody>
      </p:sp>
      <p:sp>
        <p:nvSpPr>
          <p:cNvPr id="63" name="Text 61"/>
          <p:cNvSpPr txBox="1"/>
          <p:nvPr/>
        </p:nvSpPr>
        <p:spPr>
          <a:xfrm>
            <a:off x="10341864" y="421538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Autor</a:t>
            </a:r>
            <a:endParaRPr lang="en-US" sz="680" dirty="0"/>
          </a:p>
        </p:txBody>
      </p:sp>
      <p:sp>
        <p:nvSpPr>
          <p:cNvPr id="64" name="Text 62"/>
          <p:cNvSpPr txBox="1"/>
          <p:nvPr/>
        </p:nvSpPr>
        <p:spPr>
          <a:xfrm>
            <a:off x="9070848" y="4434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antes/después</a:t>
            </a:r>
            <a:endParaRPr lang="en-US" sz="770" dirty="0"/>
          </a:p>
        </p:txBody>
      </p:sp>
      <p:sp>
        <p:nvSpPr>
          <p:cNvPr id="65" name="Shape 63"/>
          <p:cNvSpPr/>
          <p:nvPr/>
        </p:nvSpPr>
        <p:spPr>
          <a:xfrm>
            <a:off x="8266176" y="4773168"/>
            <a:ext cx="658368" cy="274320"/>
          </a:xfrm>
          <a:prstGeom prst="roundRect">
            <a:avLst>
              <a:gd name="adj" fmla="val 20000"/>
            </a:avLst>
          </a:prstGeom>
          <a:solidFill>
            <a:srgbClr val="FFE5EA"/>
          </a:solidFill>
          <a:ln w="12700">
            <a:solidFill>
              <a:srgbClr val="FFE5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321040" y="478231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8F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</a:t>
            </a:r>
            <a:endParaRPr lang="en-US" sz="720" dirty="0"/>
          </a:p>
        </p:txBody>
      </p:sp>
      <p:sp>
        <p:nvSpPr>
          <p:cNvPr id="67" name="Text 65"/>
          <p:cNvSpPr txBox="1"/>
          <p:nvPr/>
        </p:nvSpPr>
        <p:spPr>
          <a:xfrm>
            <a:off x="9070848" y="47640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pobre</a:t>
            </a:r>
            <a:endParaRPr lang="en-US" sz="870" dirty="0"/>
          </a:p>
        </p:txBody>
      </p:sp>
      <p:sp>
        <p:nvSpPr>
          <p:cNvPr id="68" name="Text 66"/>
          <p:cNvSpPr txBox="1"/>
          <p:nvPr/>
        </p:nvSpPr>
        <p:spPr>
          <a:xfrm>
            <a:off x="10341864" y="4764024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Resp.: Autor</a:t>
            </a:r>
            <a:endParaRPr lang="en-US" sz="680" dirty="0"/>
          </a:p>
        </p:txBody>
      </p:sp>
      <p:sp>
        <p:nvSpPr>
          <p:cNvPr id="69" name="Text 67"/>
          <p:cNvSpPr txBox="1"/>
          <p:nvPr/>
        </p:nvSpPr>
        <p:spPr>
          <a:xfrm>
            <a:off x="9070848" y="4983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EBA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abstención + gaps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4 · CIERRE DEL LOOP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5778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B12 — Métricas, roadmap y decisión de continuidad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942832" y="64922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F8E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Canvas · Algedi Architect · 7/7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30352" y="1298448"/>
            <a:ext cx="3136392" cy="1993392"/>
          </a:xfrm>
          <a:prstGeom prst="roundRect">
            <a:avLst>
              <a:gd name="adj" fmla="val 2752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57276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43952"/>
          </a:solidFill>
          <a:ln w="12700">
            <a:solidFill>
              <a:srgbClr val="243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81912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207568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9842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 clasificaciones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2386584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29514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citas inexistentes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269748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6060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 4/5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300837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9169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corrida &lt;10 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68496" y="1298448"/>
            <a:ext cx="3136392" cy="1993392"/>
          </a:xfrm>
          <a:prstGeom prst="roundRect">
            <a:avLst>
              <a:gd name="adj" fmla="val 2752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7952" y="157276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43952"/>
          </a:solidFill>
          <a:ln w="12700">
            <a:solidFill>
              <a:srgbClr val="2439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2816" y="1581912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6A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15384" y="207568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98264" y="19842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con decisión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15384" y="2386584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98264" y="229514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utilidad ≥4/5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15384" y="269748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98264" y="26060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≤2 ciclos de corrección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15384" y="300837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98264" y="29169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sin edición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0" y="1298448"/>
            <a:ext cx="3136392" cy="1993392"/>
          </a:xfrm>
          <a:prstGeom prst="roundRect">
            <a:avLst>
              <a:gd name="adj" fmla="val 2752"/>
            </a:avLst>
          </a:prstGeom>
          <a:solidFill>
            <a:srgbClr val="15243A"/>
          </a:solidFill>
          <a:ln w="12700">
            <a:solidFill>
              <a:srgbClr val="2D40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6096" y="1572768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243952"/>
          </a:solidFill>
          <a:ln w="12700">
            <a:solidFill>
              <a:srgbClr val="2439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0" y="1581912"/>
            <a:ext cx="10607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C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53528" y="2075688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36408" y="1984248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As-Is / To-Be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53528" y="2386584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36408" y="229514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 realizado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53528" y="2697480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36408" y="260604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de inferencia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53528" y="3008376"/>
            <a:ext cx="91440" cy="91440"/>
          </a:xfrm>
          <a:prstGeom prst="ellipse">
            <a:avLst/>
          </a:prstGeom>
          <a:solidFill>
            <a:srgbClr val="16B9DF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36408" y="29169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payback recalculado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6758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· 14 DÍAS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4133088"/>
            <a:ext cx="420624" cy="420624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1–2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38912" y="47183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Taxonomía + etiquetas ciegas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78408" y="4343400"/>
            <a:ext cx="1792224" cy="0"/>
          </a:xfrm>
          <a:prstGeom prst="line">
            <a:avLst/>
          </a:prstGeom>
          <a:noFill/>
          <a:ln w="17780">
            <a:solidFill>
              <a:srgbClr val="52698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816352" y="4133088"/>
            <a:ext cx="420624" cy="420624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16352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3–7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2706624" y="47183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+ matriz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46120" y="4343400"/>
            <a:ext cx="1792224" cy="0"/>
          </a:xfrm>
          <a:prstGeom prst="line">
            <a:avLst/>
          </a:prstGeom>
          <a:noFill/>
          <a:ln w="17780">
            <a:solidFill>
              <a:srgbClr val="52698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084064" y="4133088"/>
            <a:ext cx="420624" cy="420624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084064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8–10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974336" y="47183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+ expediente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13832" y="4343400"/>
            <a:ext cx="1792224" cy="0"/>
          </a:xfrm>
          <a:prstGeom prst="line">
            <a:avLst/>
          </a:prstGeom>
          <a:noFill/>
          <a:ln w="17780">
            <a:solidFill>
              <a:srgbClr val="526985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351776" y="4133088"/>
            <a:ext cx="420624" cy="420624"/>
          </a:xfrm>
          <a:prstGeom prst="ellipse">
            <a:avLst/>
          </a:prstGeom>
          <a:solidFill>
            <a:srgbClr val="DDF7FC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51776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11–12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242048" y="47183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+ repeticiones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781544" y="4343400"/>
            <a:ext cx="1792224" cy="0"/>
          </a:xfrm>
          <a:prstGeom prst="line">
            <a:avLst/>
          </a:prstGeom>
          <a:noFill/>
          <a:ln w="17780">
            <a:solidFill>
              <a:srgbClr val="526985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19488" y="4133088"/>
            <a:ext cx="420624" cy="420624"/>
          </a:xfrm>
          <a:prstGeom prst="ellipse">
            <a:avLst/>
          </a:prstGeom>
          <a:solidFill>
            <a:srgbClr val="2BC48A"/>
          </a:solidFill>
          <a:ln w="12700">
            <a:solidFill>
              <a:srgbClr val="2BC48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19488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13–14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509760" y="47183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+ decidir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" y="5413248"/>
            <a:ext cx="11082528" cy="713232"/>
          </a:xfrm>
          <a:prstGeom prst="roundRect">
            <a:avLst>
              <a:gd name="adj" fmla="val 7692"/>
            </a:avLst>
          </a:prstGeom>
          <a:solidFill>
            <a:srgbClr val="173F58"/>
          </a:solidFill>
          <a:ln w="12700">
            <a:solidFill>
              <a:srgbClr val="16B9D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6384" y="55961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FINAL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359152" y="55138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sólo si el gate se cumple. Si falla, publicar el error, corregir o detener.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390888" y="5833872"/>
            <a:ext cx="1874520" cy="274320"/>
          </a:xfrm>
          <a:prstGeom prst="roundRect">
            <a:avLst>
              <a:gd name="adj" fmla="val 20000"/>
            </a:avLst>
          </a:prstGeom>
          <a:solidFill>
            <a:srgbClr val="203A52"/>
          </a:solidFill>
          <a:ln w="12700">
            <a:solidFill>
              <a:srgbClr val="203A5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445752" y="5843016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RESPONSABLE: AUTOR + REVISOR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Algedi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Canvas — Algedi Architect</dc:title>
  <dc:subject>AI Canvas Unificado — TP Final 2026</dc:subject>
  <dc:creator>Lucas Brusasca</dc:creator>
  <cp:lastModifiedBy>Lucas Brusasca</cp:lastModifiedBy>
  <cp:revision>1</cp:revision>
  <dcterms:created xsi:type="dcterms:W3CDTF">2026-08-22T23:36:13Z</dcterms:created>
  <dcterms:modified xsi:type="dcterms:W3CDTF">2026-08-22T23:36:13Z</dcterms:modified>
</cp:coreProperties>
</file>