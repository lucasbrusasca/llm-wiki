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0:00–0:25. Abrir con la idea central: el problema no es generar una solución, sino elegir correctamente qué clase de solución merece construirse. Algedi es la plataforma; Architect es la iniciativa focal. No presentar el grafo como protagonista: el protagonista es el expediente que puede cerrarse y reabrirse con evidencia, objeciones y aprobación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0:25–1:20. Describir el usuario del piloto: una persona que recibe iniciativas, debe traducirlas y no cuenta con un arquitecto dedicado. El costo se presenta como escenario, no como evidencia observada: seis casos por trimestre, ocho horas por caso y un desarrollo incorrecto de USD 2.000. La hipótesis es que hoy se pierde tiempo preparando y, peor, se puede elegir una clase de solución equivocada.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1:20–2:20. Explicar el flujo completo. Primero recupera evidencia de Algedi con marcadores válidos; luego clasifica entre seis salidas y compara alternativas con la misma matriz. Un segundo agente formula objeciones y finalmente la persona responsable decide. La interfaz HTML no contiene el criterio: visualiza la respuesta del backend. La diferencia frente a un chat aislado es el protocolo repetible, la trazabilidad, la persistencia y la aprobación explícita.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2:20–3:15. Separar con honestidad tres estados. Algedi aporta ingesta, recuperación, persistencia y revisión humana. El prototipo Architect ya conecta la interfaz con un endpoint de seis salidas, matriz y verificador. Todavía no está validado: el banco de doce casos y el gate se evalúan recién al cierre de las dos semanas. Los datos del piloto son propios, ficticios o públicos.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3:15–4:00. En el espectro del curso, Architect es Nivel 4 porque coordina planner, verifier y HITL. Eso no significa autoridad operacional: sólo recomienda. Nombrar el riesgo sin maquillaje: ambos modelos pueden compartir sesgos; dos agentes no garantizan independencia. La mitigación combina separación de roles, controles determinísticos, benchmark y decisión humana registrada.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4:00–4:40. Cerrar con un pedido concreto: dos semanas, doce casos sintéticos y un caso completo. El beneficio, la inversión y el payback son supuestos, no resultados. La sensibilidad más conservadora elimina por completo el ahorro por error evitado y lleva el payback a 3,5 meses. Continuar únicamente si supera los tres umbrales.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ALGEDI / ARCHITECT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6583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7F9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primer error de un proyecto de IA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7F9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ocurre antes de escribir código.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28600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convierte una necesidad difusa en una decisión trazable: qué resolver, con qué enfoque y bajo qué evidencia.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3785616"/>
            <a:ext cx="1965960" cy="1115568"/>
          </a:xfrm>
          <a:prstGeom prst="roundRect">
            <a:avLst>
              <a:gd name="adj" fmla="val 6557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399592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E4E9"/>
          </a:solidFill>
          <a:ln w="12700">
            <a:solidFill>
              <a:srgbClr val="FFE4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01421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398264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"Necesitamos IA"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87752" y="4343400"/>
            <a:ext cx="932688" cy="0"/>
          </a:xfrm>
          <a:prstGeom prst="line">
            <a:avLst/>
          </a:prstGeom>
          <a:noFill/>
          <a:ln w="25400">
            <a:solidFill>
              <a:srgbClr val="61708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3566160"/>
            <a:ext cx="1755648" cy="1572768"/>
          </a:xfrm>
          <a:prstGeom prst="hexagon">
            <a:avLst/>
          </a:prstGeom>
          <a:solidFill>
            <a:srgbClr val="17334A"/>
          </a:solidFill>
          <a:ln w="22860">
            <a:solidFill>
              <a:srgbClr val="4DD8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49040" y="395935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03904" y="43159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antes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V="1">
            <a:off x="5285232" y="3739896"/>
            <a:ext cx="704088" cy="612648"/>
          </a:xfrm>
          <a:prstGeom prst="line">
            <a:avLst/>
          </a:prstGeom>
          <a:noFill/>
          <a:ln w="13970">
            <a:solidFill>
              <a:srgbClr val="3946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5285232" y="3739896"/>
            <a:ext cx="2578608" cy="612648"/>
          </a:xfrm>
          <a:prstGeom prst="line">
            <a:avLst/>
          </a:prstGeom>
          <a:noFill/>
          <a:ln w="13970">
            <a:solidFill>
              <a:srgbClr val="3946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285232" y="3739896"/>
            <a:ext cx="4453128" cy="612648"/>
          </a:xfrm>
          <a:prstGeom prst="line">
            <a:avLst/>
          </a:prstGeom>
          <a:noFill/>
          <a:ln w="13970">
            <a:solidFill>
              <a:srgbClr val="3946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85232" y="4352544"/>
            <a:ext cx="704088" cy="512064"/>
          </a:xfrm>
          <a:prstGeom prst="line">
            <a:avLst/>
          </a:prstGeom>
          <a:noFill/>
          <a:ln w="13970">
            <a:solidFill>
              <a:srgbClr val="3946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85232" y="4352544"/>
            <a:ext cx="2578608" cy="512064"/>
          </a:xfrm>
          <a:prstGeom prst="line">
            <a:avLst/>
          </a:prstGeom>
          <a:noFill/>
          <a:ln w="13970">
            <a:solidFill>
              <a:srgbClr val="3946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5232" y="4352544"/>
            <a:ext cx="4453128" cy="512064"/>
          </a:xfrm>
          <a:prstGeom prst="line">
            <a:avLst/>
          </a:prstGeom>
          <a:noFill/>
          <a:ln w="13970">
            <a:solidFill>
              <a:srgbClr val="3946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3355848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20283D"/>
          </a:solidFill>
          <a:ln w="12700">
            <a:solidFill>
              <a:srgbClr val="303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3557016"/>
            <a:ext cx="384048" cy="38404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47688" y="34747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373989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63840" y="3355848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20283D"/>
          </a:solidFill>
          <a:ln w="12700">
            <a:solidFill>
              <a:srgbClr val="30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28432" y="3557016"/>
            <a:ext cx="384048" cy="384048"/>
          </a:xfrm>
          <a:prstGeom prst="ellipse">
            <a:avLst/>
          </a:prstGeom>
          <a:solidFill>
            <a:srgbClr val="4FE0A1"/>
          </a:solidFill>
          <a:ln w="12700">
            <a:solidFill>
              <a:srgbClr val="4FE0A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22208" y="34747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522208" y="373989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738360" y="3355848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20283D"/>
          </a:solidFill>
          <a:ln w="12700">
            <a:solidFill>
              <a:srgbClr val="303A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02952" y="3557016"/>
            <a:ext cx="384048" cy="384048"/>
          </a:xfrm>
          <a:prstGeom prst="ellipse">
            <a:avLst/>
          </a:prstGeom>
          <a:solidFill>
            <a:srgbClr val="4DD8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96728" y="34747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/ BI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396728" y="3739896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9320" y="4480560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20283D"/>
          </a:solidFill>
          <a:ln w="12700">
            <a:solidFill>
              <a:srgbClr val="303A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53912" y="4681728"/>
            <a:ext cx="384048" cy="384048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47688" y="45994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asistiva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647688" y="4864608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863840" y="4480560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20283D"/>
          </a:solidFill>
          <a:ln w="12700">
            <a:solidFill>
              <a:srgbClr val="303A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28432" y="4681728"/>
            <a:ext cx="384048" cy="384048"/>
          </a:xfrm>
          <a:prstGeom prst="ellipse">
            <a:avLst/>
          </a:prstGeom>
          <a:solidFill>
            <a:srgbClr val="FF647C"/>
          </a:solidFill>
          <a:ln w="12700">
            <a:solidFill>
              <a:srgbClr val="FF647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22208" y="45994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522208" y="4864608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738360" y="4480560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20283D"/>
          </a:solidFill>
          <a:ln w="12700">
            <a:solidFill>
              <a:srgbClr val="303A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902952" y="4681728"/>
            <a:ext cx="384048" cy="384048"/>
          </a:xfrm>
          <a:prstGeom prst="ellipse">
            <a:avLst/>
          </a:prstGeom>
          <a:solidFill>
            <a:srgbClr val="92A0B8"/>
          </a:solidFill>
          <a:ln w="12700">
            <a:solidFill>
              <a:srgbClr val="92A0B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396728" y="45994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implementar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396728" y="4864608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válida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34072" y="5669280"/>
            <a:ext cx="2313432" cy="310896"/>
          </a:xfrm>
          <a:prstGeom prst="roundRect">
            <a:avLst>
              <a:gd name="adj" fmla="val 23529"/>
            </a:avLst>
          </a:prstGeom>
          <a:solidFill>
            <a:srgbClr val="17334A"/>
          </a:solidFill>
          <a:ln w="12700">
            <a:solidFill>
              <a:srgbClr val="2E637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07224" y="5687568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PERSISTENTE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989320" y="605332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la decisión humana: la vuelve explícita, comparable y auditable.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46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Brusasca  ·  AI Agents 2026  ·  Algedi / Architect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18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se salta de la necesidad a la herramienta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865376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84248"/>
            <a:ext cx="329184" cy="329184"/>
          </a:xfrm>
          <a:prstGeom prst="ellipse">
            <a:avLst/>
          </a:prstGeom>
          <a:solidFill>
            <a:srgbClr val="4DD8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386584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63347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11096" y="2404872"/>
            <a:ext cx="201168" cy="0"/>
          </a:xfrm>
          <a:prstGeom prst="line">
            <a:avLst/>
          </a:prstGeom>
          <a:noFill/>
          <a:ln w="17780">
            <a:solidFill>
              <a:srgbClr val="AAB3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9696" y="1865376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31136" y="1984248"/>
            <a:ext cx="329184" cy="329184"/>
          </a:xfrm>
          <a:prstGeom prst="ellipse">
            <a:avLst/>
          </a:prstGeom>
          <a:solidFill>
            <a:srgbClr val="4DD8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31136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49424" y="2386584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263347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92424" y="2404872"/>
            <a:ext cx="201168" cy="0"/>
          </a:xfrm>
          <a:prstGeom prst="line">
            <a:avLst/>
          </a:prstGeom>
          <a:noFill/>
          <a:ln w="17780">
            <a:solidFill>
              <a:srgbClr val="AAB3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21024" y="1865376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1984248"/>
            <a:ext cx="329184" cy="329184"/>
          </a:xfrm>
          <a:prstGeom prst="ellipse">
            <a:avLst/>
          </a:prstGeom>
          <a:solidFill>
            <a:srgbClr val="4DD8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12464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30752" y="2386584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730752" y="263347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73752" y="2404872"/>
            <a:ext cx="201168" cy="0"/>
          </a:xfrm>
          <a:prstGeom prst="line">
            <a:avLst/>
          </a:prstGeom>
          <a:noFill/>
          <a:ln w="17780">
            <a:solidFill>
              <a:srgbClr val="AAB3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02352" y="1865376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93792" y="1984248"/>
            <a:ext cx="329184" cy="329184"/>
          </a:xfrm>
          <a:prstGeom prst="ellipse">
            <a:avLst/>
          </a:prstGeom>
          <a:solidFill>
            <a:srgbClr val="4DD8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3792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2386584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263347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2404872"/>
            <a:ext cx="201168" cy="0"/>
          </a:xfrm>
          <a:prstGeom prst="line">
            <a:avLst/>
          </a:prstGeom>
          <a:noFill/>
          <a:ln w="17780">
            <a:solidFill>
              <a:srgbClr val="AAB3C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583680" y="1865376"/>
            <a:ext cx="1234440" cy="1078992"/>
          </a:xfrm>
          <a:prstGeom prst="roundRect">
            <a:avLst>
              <a:gd name="adj" fmla="val 6780"/>
            </a:avLst>
          </a:prstGeom>
          <a:solidFill>
            <a:srgbClr val="FFE4E9"/>
          </a:solidFill>
          <a:ln w="12700">
            <a:solidFill>
              <a:srgbClr val="F1A3B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1984248"/>
            <a:ext cx="329184" cy="329184"/>
          </a:xfrm>
          <a:prstGeom prst="ellipse">
            <a:avLst/>
          </a:prstGeom>
          <a:solidFill>
            <a:srgbClr val="FF647C"/>
          </a:solidFill>
          <a:ln w="12700">
            <a:solidFill>
              <a:srgbClr val="FF647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93408" y="2386584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93408" y="2633472"/>
            <a:ext cx="1014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memoria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" y="3310128"/>
            <a:ext cx="7150608" cy="2148840"/>
          </a:xfrm>
          <a:prstGeom prst="roundRect">
            <a:avLst>
              <a:gd name="adj" fmla="val 3404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2688" y="3584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18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DEL PILOTO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" y="386791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Líder de innovación o datos en una PyME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932688" y="4407408"/>
            <a:ext cx="6263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arquitecto dedicado · ~6 iniciativas por trimestre · 8 h de preparación por caso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32688" y="489204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DDF7FF"/>
          </a:solidFill>
          <a:ln w="12700">
            <a:solidFill>
              <a:srgbClr val="DDF7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5840" y="491032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359152" y="4892040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 es cada vez más fácil. El cuello de botella pasó a ser decidir qué merece construirse.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19872" y="1627632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85632" y="1993392"/>
            <a:ext cx="1536192" cy="310896"/>
          </a:xfrm>
          <a:prstGeom prst="roundRect">
            <a:avLst>
              <a:gd name="adj" fmla="val 23529"/>
            </a:avLst>
          </a:prstGeom>
          <a:solidFill>
            <a:srgbClr val="26304A"/>
          </a:solidFill>
          <a:ln w="12700">
            <a:solidFill>
              <a:srgbClr val="3B476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58784" y="20116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 VALIDAR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449056" y="2542032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F9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3.200</a:t>
            </a:r>
            <a:endParaRPr lang="en-US" sz="3200" dirty="0"/>
          </a:p>
        </p:txBody>
      </p:sp>
      <p:sp>
        <p:nvSpPr>
          <p:cNvPr id="44" name="Text 42"/>
          <p:cNvSpPr txBox="1"/>
          <p:nvPr/>
        </p:nvSpPr>
        <p:spPr>
          <a:xfrm>
            <a:off x="8577072" y="317296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trimestral del problema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58784" y="3685032"/>
            <a:ext cx="2514600" cy="0"/>
          </a:xfrm>
          <a:prstGeom prst="line">
            <a:avLst/>
          </a:prstGeom>
          <a:noFill/>
          <a:ln w="12700">
            <a:solidFill>
              <a:srgbClr val="39466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58784" y="388620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1.200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8558784" y="422452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765792" y="39593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9" name="Text 47"/>
          <p:cNvSpPr txBox="1"/>
          <p:nvPr/>
        </p:nvSpPr>
        <p:spPr>
          <a:xfrm>
            <a:off x="10040112" y="388620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2.000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9966960" y="42245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construye mal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549640" y="5074920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explícito, no resultado medido.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446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Brusasca  ·  AI Agents 2026  ·  Algedi / Architect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9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protocolo de decisión, no otro chat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938528" cy="1316736"/>
          </a:xfrm>
          <a:prstGeom prst="roundRect">
            <a:avLst>
              <a:gd name="adj" fmla="val 5556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47088"/>
            <a:ext cx="356616" cy="356616"/>
          </a:xfrm>
          <a:prstGeom prst="ellipse">
            <a:avLst/>
          </a:prstGeom>
          <a:solidFill>
            <a:srgbClr val="20283D"/>
          </a:solidFill>
          <a:ln w="12700">
            <a:solidFill>
              <a:srgbClr val="4350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4708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810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3225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Pasajes y citas válidas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2304288"/>
            <a:ext cx="256032" cy="0"/>
          </a:xfrm>
          <a:prstGeom prst="line">
            <a:avLst/>
          </a:prstGeom>
          <a:noFill/>
          <a:ln w="19050">
            <a:solidFill>
              <a:srgbClr val="5261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52928" y="1664208"/>
            <a:ext cx="1938528" cy="1316736"/>
          </a:xfrm>
          <a:prstGeom prst="roundRect">
            <a:avLst>
              <a:gd name="adj" fmla="val 5556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9232" y="1847088"/>
            <a:ext cx="356616" cy="356616"/>
          </a:xfrm>
          <a:prstGeom prst="ellipse">
            <a:avLst/>
          </a:prstGeom>
          <a:solidFill>
            <a:srgbClr val="20283D"/>
          </a:solidFill>
          <a:ln w="12700">
            <a:solidFill>
              <a:srgbClr val="4350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99232" y="184708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38144" y="1810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23225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clase de solución?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28032" y="2304288"/>
            <a:ext cx="256032" cy="0"/>
          </a:xfrm>
          <a:prstGeom prst="line">
            <a:avLst/>
          </a:prstGeom>
          <a:noFill/>
          <a:ln w="19050">
            <a:solidFill>
              <a:srgbClr val="52617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38928" y="1664208"/>
            <a:ext cx="1938528" cy="1316736"/>
          </a:xfrm>
          <a:prstGeom prst="roundRect">
            <a:avLst>
              <a:gd name="adj" fmla="val 5556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85232" y="1847088"/>
            <a:ext cx="356616" cy="356616"/>
          </a:xfrm>
          <a:prstGeom prst="ellipse">
            <a:avLst/>
          </a:prstGeom>
          <a:solidFill>
            <a:srgbClr val="20283D"/>
          </a:solidFill>
          <a:ln w="12700">
            <a:solidFill>
              <a:srgbClr val="4350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85232" y="184708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24144" y="1810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85232" y="23225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· datos · costo · riesgo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14032" y="2304288"/>
            <a:ext cx="256032" cy="0"/>
          </a:xfrm>
          <a:prstGeom prst="line">
            <a:avLst/>
          </a:prstGeom>
          <a:noFill/>
          <a:ln w="19050">
            <a:solidFill>
              <a:srgbClr val="5261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24928" y="1664208"/>
            <a:ext cx="1938528" cy="1316736"/>
          </a:xfrm>
          <a:prstGeom prst="roundRect">
            <a:avLst>
              <a:gd name="adj" fmla="val 5556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71232" y="1847088"/>
            <a:ext cx="356616" cy="356616"/>
          </a:xfrm>
          <a:prstGeom prst="ellipse">
            <a:avLst/>
          </a:prstGeom>
          <a:solidFill>
            <a:srgbClr val="20283D"/>
          </a:solidFill>
          <a:ln w="12700">
            <a:solidFill>
              <a:srgbClr val="4350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71232" y="184708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010144" y="1810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23225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Objeción independiente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00032" y="2304288"/>
            <a:ext cx="256032" cy="0"/>
          </a:xfrm>
          <a:prstGeom prst="line">
            <a:avLst/>
          </a:prstGeom>
          <a:noFill/>
          <a:ln w="19050">
            <a:solidFill>
              <a:srgbClr val="52617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10928" y="1664208"/>
            <a:ext cx="1938528" cy="1316736"/>
          </a:xfrm>
          <a:prstGeom prst="roundRect">
            <a:avLst>
              <a:gd name="adj" fmla="val 5556"/>
            </a:avLst>
          </a:prstGeom>
          <a:solidFill>
            <a:srgbClr val="17334A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57232" y="1847088"/>
            <a:ext cx="356616" cy="356616"/>
          </a:xfrm>
          <a:prstGeom prst="ellipse">
            <a:avLst/>
          </a:prstGeom>
          <a:solidFill>
            <a:srgbClr val="4DD8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57232" y="184708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296144" y="18105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857232" y="23225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· cambiar · descartar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" y="34381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SALIDAS POSIBLES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" y="3785616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38039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5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12848" y="3785616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DF9EE"/>
          </a:solidFill>
          <a:ln w="12700">
            <a:solidFill>
              <a:srgbClr val="DDF9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286000" y="38039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6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3785616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DF7FF"/>
          </a:solidFill>
          <a:ln w="12700">
            <a:solidFill>
              <a:srgbClr val="DDF7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822192" y="38039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/ BI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85232" y="3785616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DEAFF"/>
          </a:solidFill>
          <a:ln w="12700">
            <a:solidFill>
              <a:srgbClr val="EDEA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58384" y="38039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74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asistiva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21424" y="3785616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FFE4E9"/>
          </a:solidFill>
          <a:ln w="12700">
            <a:solidFill>
              <a:srgbClr val="FFE4E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94576" y="38039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57616" y="3785616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9EDF4"/>
          </a:solidFill>
          <a:ln w="12700">
            <a:solidFill>
              <a:srgbClr val="E9EDF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30768" y="380390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implementar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6656" y="4462272"/>
            <a:ext cx="6812280" cy="1225296"/>
          </a:xfrm>
          <a:prstGeom prst="roundRect">
            <a:avLst>
              <a:gd name="adj" fmla="val 5970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32688" y="46725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DEMO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32688" y="4956048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9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"Necesito automatizar el reporte mensual de planillas"</a:t>
            </a:r>
            <a:endParaRPr lang="en-US" sz="1700" dirty="0"/>
          </a:p>
        </p:txBody>
      </p:sp>
      <p:sp>
        <p:nvSpPr>
          <p:cNvPr id="49" name="Text 47"/>
          <p:cNvSpPr txBox="1"/>
          <p:nvPr/>
        </p:nvSpPr>
        <p:spPr>
          <a:xfrm>
            <a:off x="932688" y="534009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puede concluir Datos / BI, no agente.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577840" y="5065776"/>
            <a:ext cx="384048" cy="0"/>
          </a:xfrm>
          <a:prstGeom prst="line">
            <a:avLst/>
          </a:prstGeom>
          <a:noFill/>
          <a:ln w="20320">
            <a:solidFill>
              <a:srgbClr val="52617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998464" y="4910328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17334A"/>
          </a:solidFill>
          <a:ln w="12700">
            <a:solidFill>
              <a:srgbClr val="2E637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071616" y="4928616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HUMANA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827264" y="4462272"/>
            <a:ext cx="3520440" cy="1225296"/>
          </a:xfrm>
          <a:prstGeom prst="roundRect">
            <a:avLst>
              <a:gd name="adj" fmla="val 5970"/>
            </a:avLst>
          </a:prstGeom>
          <a:solidFill>
            <a:srgbClr val="1B2338"/>
          </a:solidFill>
          <a:ln w="12700">
            <a:solidFill>
              <a:srgbClr val="35415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119872" y="465429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8119872" y="4965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 ·  objeción  ·  evidencia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8119872" y="52852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 ·  comentario  ·  fecha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446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Brusasca  ·  AI Agents 2026  ·  Algedi / Architect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18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VIABILIDAD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del piloto: base disponible, prototipo conectado, prueba bloqueada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3401568" cy="3401568"/>
          </a:xfrm>
          <a:prstGeom prst="roundRect">
            <a:avLst>
              <a:gd name="adj" fmla="val 2151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438912" cy="438912"/>
          </a:xfrm>
          <a:prstGeom prst="ellipse">
            <a:avLst/>
          </a:prstGeom>
          <a:solidFill>
            <a:srgbClr val="DDF9EE"/>
          </a:solidFill>
          <a:ln w="15240">
            <a:solidFill>
              <a:srgbClr val="4FE0A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99616" y="19385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DISPONIBLE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0976" y="2651760"/>
            <a:ext cx="210312" cy="210312"/>
          </a:xfrm>
          <a:prstGeom prst="ellipse">
            <a:avLst/>
          </a:prstGeom>
          <a:solidFill>
            <a:srgbClr val="4FE0A1"/>
          </a:solidFill>
          <a:ln w="12700">
            <a:solidFill>
              <a:srgbClr val="4FE0A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265176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560320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y recuperación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0976" y="3310128"/>
            <a:ext cx="210312" cy="210312"/>
          </a:xfrm>
          <a:prstGeom prst="ellipse">
            <a:avLst/>
          </a:prstGeom>
          <a:solidFill>
            <a:srgbClr val="4FE0A1"/>
          </a:solidFill>
          <a:ln w="12700">
            <a:solidFill>
              <a:srgbClr val="4FE0A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331012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21868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+ alternativas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50976" y="3968496"/>
            <a:ext cx="210312" cy="210312"/>
          </a:xfrm>
          <a:prstGeom prst="ellipse">
            <a:avLst/>
          </a:prstGeom>
          <a:solidFill>
            <a:srgbClr val="4FE0A1"/>
          </a:solidFill>
          <a:ln w="12700">
            <a:solidFill>
              <a:srgbClr val="4FE0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" y="396849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87705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+ interfaz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33088" y="3337560"/>
            <a:ext cx="246888" cy="0"/>
          </a:xfrm>
          <a:prstGeom prst="line">
            <a:avLst/>
          </a:prstGeom>
          <a:noFill/>
          <a:ln w="17780">
            <a:solidFill>
              <a:srgbClr val="AAB3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89120" y="1645920"/>
            <a:ext cx="3401568" cy="3401568"/>
          </a:xfrm>
          <a:prstGeom prst="roundRect">
            <a:avLst>
              <a:gd name="adj" fmla="val 2151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1920240"/>
            <a:ext cx="438912" cy="438912"/>
          </a:xfrm>
          <a:prstGeom prst="ellipse">
            <a:avLst/>
          </a:prstGeom>
          <a:solidFill>
            <a:srgbClr val="DDF7FF"/>
          </a:solidFill>
          <a:ln w="15240">
            <a:solidFill>
              <a:srgbClr val="4DD8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45152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19385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CONECTADO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81728" y="2651760"/>
            <a:ext cx="210312" cy="210312"/>
          </a:xfrm>
          <a:prstGeom prst="ellipse">
            <a:avLst/>
          </a:prstGeom>
          <a:solidFill>
            <a:srgbClr val="4DD8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81728" y="265176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047488" y="2560320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 6 salidas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1728" y="3310128"/>
            <a:ext cx="210312" cy="210312"/>
          </a:xfrm>
          <a:prstGeom prst="ellipse">
            <a:avLst/>
          </a:prstGeom>
          <a:solidFill>
            <a:srgbClr val="4DD8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81728" y="331012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047488" y="321868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+ segundo agente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81728" y="3968496"/>
            <a:ext cx="210312" cy="210312"/>
          </a:xfrm>
          <a:prstGeom prst="ellipse">
            <a:avLst/>
          </a:prstGeom>
          <a:solidFill>
            <a:srgbClr val="4DD8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81728" y="396849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047488" y="387705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sin reglas de decisión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863840" y="3337560"/>
            <a:ext cx="246888" cy="0"/>
          </a:xfrm>
          <a:prstGeom prst="line">
            <a:avLst/>
          </a:prstGeom>
          <a:noFill/>
          <a:ln w="17780">
            <a:solidFill>
              <a:srgbClr val="AAB3C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19872" y="1645920"/>
            <a:ext cx="3401568" cy="3401568"/>
          </a:xfrm>
          <a:prstGeom prst="roundRect">
            <a:avLst>
              <a:gd name="adj" fmla="val 2151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75904" y="1920240"/>
            <a:ext cx="438912" cy="438912"/>
          </a:xfrm>
          <a:prstGeom prst="ellipse">
            <a:avLst/>
          </a:prstGeom>
          <a:solidFill>
            <a:srgbClr val="FFF1D9"/>
          </a:solidFill>
          <a:ln w="15240">
            <a:solidFill>
              <a:srgbClr val="FFB84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75904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961120" y="19385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ÉXITO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2651760"/>
            <a:ext cx="210312" cy="21031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12480" y="265176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2560320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12 casos correctos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412480" y="3310128"/>
            <a:ext cx="210312" cy="21031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12480" y="331012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778240" y="3218688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referencias inexistentes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412480" y="3968496"/>
            <a:ext cx="210312" cy="21031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412480" y="396849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8778240" y="3877056"/>
            <a:ext cx="2377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decisiones humanas registradas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58368" y="5376672"/>
            <a:ext cx="10863072" cy="676656"/>
          </a:xfrm>
          <a:prstGeom prst="roundRect">
            <a:avLst>
              <a:gd name="adj" fmla="val 108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2688" y="555955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6304A"/>
          </a:solidFill>
          <a:ln w="12700">
            <a:solidFill>
              <a:srgbClr val="3B476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05840" y="557784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PILOTO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2633472" y="5522976"/>
            <a:ext cx="8211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Propios, ficticios o públicos. Sin documentos confidenciales de clientes, empleadores ni terceros.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165592" y="5047488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38744" y="506577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5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AL CIERRE DE LAS 2 SEMANAS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446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Brusasca  ·  AI Agents 2026  ·  Algedi / Architect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RIESGO PRINCIPAL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9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suene bien y esté mal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668512" y="420624"/>
            <a:ext cx="2578608" cy="310896"/>
          </a:xfrm>
          <a:prstGeom prst="roundRect">
            <a:avLst>
              <a:gd name="adj" fmla="val 23529"/>
            </a:avLst>
          </a:prstGeom>
          <a:solidFill>
            <a:srgbClr val="26304A"/>
          </a:solidFill>
          <a:ln w="12700">
            <a:solidFill>
              <a:srgbClr val="3B47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41664" y="43891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 · MULTIAGENTES + HITL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2871216" cy="1280160"/>
          </a:xfrm>
          <a:prstGeom prst="roundRect">
            <a:avLst>
              <a:gd name="adj" fmla="val 5714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993392"/>
            <a:ext cx="438912" cy="438912"/>
          </a:xfrm>
          <a:prstGeom prst="ellipse">
            <a:avLst/>
          </a:prstGeom>
          <a:solidFill>
            <a:srgbClr val="DDF7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90195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231136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una clase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una arquitectura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3547872"/>
            <a:ext cx="2871216" cy="1280160"/>
          </a:xfrm>
          <a:prstGeom prst="roundRect">
            <a:avLst>
              <a:gd name="adj" fmla="val 5714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3785616"/>
            <a:ext cx="438912" cy="438912"/>
          </a:xfrm>
          <a:prstGeom prst="ellipse">
            <a:avLst/>
          </a:prstGeom>
          <a:solidFill>
            <a:srgbClr val="FFE4E9"/>
          </a:solidFill>
          <a:ln w="12700">
            <a:solidFill>
              <a:srgbClr val="FF64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3785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69417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023360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objeta supuestos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exige evidencia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21024" y="2404872"/>
            <a:ext cx="1115568" cy="1115568"/>
          </a:xfrm>
          <a:prstGeom prst="line">
            <a:avLst/>
          </a:prstGeom>
          <a:noFill/>
          <a:ln w="22860">
            <a:solidFill>
              <a:srgbClr val="52617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3621024" y="3520440"/>
            <a:ext cx="1115568" cy="658368"/>
          </a:xfrm>
          <a:prstGeom prst="line">
            <a:avLst/>
          </a:prstGeom>
          <a:noFill/>
          <a:ln w="22860">
            <a:solidFill>
              <a:srgbClr val="5261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36592" y="2688336"/>
            <a:ext cx="1956816" cy="1554480"/>
          </a:xfrm>
          <a:prstGeom prst="hexagon">
            <a:avLst/>
          </a:prstGeom>
          <a:solidFill>
            <a:srgbClr val="2A2135"/>
          </a:solidFill>
          <a:ln w="20320">
            <a:solidFill>
              <a:srgbClr val="FF647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29992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56048" y="338328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≠ correcta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9984" y="3465576"/>
            <a:ext cx="987552" cy="0"/>
          </a:xfrm>
          <a:prstGeom prst="line">
            <a:avLst/>
          </a:prstGeom>
          <a:noFill/>
          <a:ln w="22860">
            <a:solidFill>
              <a:srgbClr val="52617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0" y="2532888"/>
            <a:ext cx="3438144" cy="1901952"/>
          </a:xfrm>
          <a:prstGeom prst="roundRect">
            <a:avLst>
              <a:gd name="adj" fmla="val 3846"/>
            </a:avLst>
          </a:prstGeom>
          <a:solidFill>
            <a:srgbClr val="17334A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0728" y="2889504"/>
            <a:ext cx="749808" cy="749808"/>
          </a:xfrm>
          <a:prstGeom prst="diamond">
            <a:avLst/>
          </a:prstGeom>
          <a:solidFill>
            <a:srgbClr val="4DD8FF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84464" y="3072384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61704" y="285292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HUMANO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061704" y="3227832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· pide cambio · descarta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061704" y="37033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comentario y fecha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0" y="5230368"/>
            <a:ext cx="2487168" cy="658368"/>
          </a:xfrm>
          <a:prstGeom prst="roundRect">
            <a:avLst>
              <a:gd name="adj" fmla="val 11111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93392" y="5422392"/>
            <a:ext cx="256032" cy="256032"/>
          </a:xfrm>
          <a:prstGeom prst="ellipse">
            <a:avLst/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59152" y="53218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359152" y="554126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pasos distintos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5230368"/>
            <a:ext cx="2487168" cy="658368"/>
          </a:xfrm>
          <a:prstGeom prst="roundRect">
            <a:avLst>
              <a:gd name="adj" fmla="val 11111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8032" y="5422392"/>
            <a:ext cx="256032" cy="25603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93792" y="53218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193792" y="554126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determinísticas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98080" y="5230368"/>
            <a:ext cx="2487168" cy="658368"/>
          </a:xfrm>
          <a:prstGeom prst="roundRect">
            <a:avLst>
              <a:gd name="adj" fmla="val 11111"/>
            </a:avLst>
          </a:prstGeom>
          <a:solidFill>
            <a:srgbClr val="15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5422392"/>
            <a:ext cx="256032" cy="256032"/>
          </a:xfrm>
          <a:prstGeom prst="ellipse">
            <a:avLst/>
          </a:prstGeom>
          <a:solidFill>
            <a:srgbClr val="4FE0A1"/>
          </a:solidFill>
          <a:ln w="12700">
            <a:solidFill>
              <a:srgbClr val="4FE0A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28432" y="532180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E0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028432" y="5541264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con respuesta esperada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3401568" y="6062472"/>
            <a:ext cx="5413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reduce correlación; no garantiza independencia.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446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Brusasca  ·  AI Agents 2026  ·  Algedi / Architect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218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IMPACTO Y PEDIDO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 de dos semanas, con una salida explícita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528048" y="420624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0" y="43891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5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A VALIDAR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3063240" cy="1572768"/>
          </a:xfrm>
          <a:prstGeom prst="roundRect">
            <a:avLst>
              <a:gd name="adj" fmla="val 4651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810512"/>
            <a:ext cx="384048" cy="384048"/>
          </a:xfrm>
          <a:prstGeom prst="ellipse">
            <a:avLst/>
          </a:prstGeom>
          <a:solidFill>
            <a:srgbClr val="DDF9EE"/>
          </a:solidFill>
          <a:ln w="15240">
            <a:solidFill>
              <a:srgbClr val="4FE0A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1.900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267712"/>
            <a:ext cx="2478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esperado / trimestre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259689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+ menor error esperado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05656" y="1572768"/>
            <a:ext cx="3063240" cy="1572768"/>
          </a:xfrm>
          <a:prstGeom prst="roundRect">
            <a:avLst>
              <a:gd name="adj" fmla="val 4651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810512"/>
            <a:ext cx="384048" cy="384048"/>
          </a:xfrm>
          <a:prstGeom prst="ellipse">
            <a:avLst/>
          </a:prstGeom>
          <a:solidFill>
            <a:srgbClr val="DDF7FF"/>
          </a:solidFill>
          <a:ln w="15240">
            <a:solidFill>
              <a:srgbClr val="4DD8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18888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1.040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398264" y="2267712"/>
            <a:ext cx="2478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incremental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398264" y="259689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 + inferencia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52944" y="1572768"/>
            <a:ext cx="3063240" cy="1572768"/>
          </a:xfrm>
          <a:prstGeom prst="roundRect">
            <a:avLst>
              <a:gd name="adj" fmla="val 4651"/>
            </a:avLst>
          </a:prstGeom>
          <a:solidFill>
            <a:srgbClr val="F7F9FD"/>
          </a:solidFill>
          <a:ln w="12700">
            <a:solidFill>
              <a:srgbClr val="D9DF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1810512"/>
            <a:ext cx="384048" cy="384048"/>
          </a:xfrm>
          <a:prstGeom prst="ellipse">
            <a:avLst/>
          </a:prstGeom>
          <a:solidFill>
            <a:srgbClr val="FFF1D9"/>
          </a:solidFill>
          <a:ln w="15240">
            <a:solidFill>
              <a:srgbClr val="FFB8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66176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 meses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845552" y="2267712"/>
            <a:ext cx="2478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estimado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45552" y="2596896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5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para este escenario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3227832"/>
            <a:ext cx="3675888" cy="310896"/>
          </a:xfrm>
          <a:prstGeom prst="roundRect">
            <a:avLst>
              <a:gd name="adj" fmla="val 23529"/>
            </a:avLst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25112" y="324612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5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 EVITADO: PAYBACK 3,5 MESES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" y="3529584"/>
            <a:ext cx="10863072" cy="2084832"/>
          </a:xfrm>
          <a:prstGeom prst="roundRect">
            <a:avLst>
              <a:gd name="adj" fmla="val 350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0976" y="380390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" y="40965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9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Aprobar un piloto acotado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" y="461772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continuidad no se presume: se gana contra el gate.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42432" y="3904488"/>
            <a:ext cx="1463040" cy="1115568"/>
          </a:xfrm>
          <a:prstGeom prst="roundRect">
            <a:avLst>
              <a:gd name="adj" fmla="val 6557"/>
            </a:avLst>
          </a:prstGeom>
          <a:solidFill>
            <a:srgbClr val="17334A"/>
          </a:solidFill>
          <a:ln w="12700">
            <a:solidFill>
              <a:srgbClr val="4DD8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52160" y="41605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SEMANAS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451713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61504" y="3904488"/>
            <a:ext cx="1463040" cy="1115568"/>
          </a:xfrm>
          <a:prstGeom prst="roundRect">
            <a:avLst>
              <a:gd name="adj" fmla="val 6557"/>
            </a:avLst>
          </a:prstGeom>
          <a:solidFill>
            <a:srgbClr val="20283D"/>
          </a:solidFill>
          <a:ln w="12700">
            <a:solidFill>
              <a:srgbClr val="35415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71232" y="41605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CASOS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571232" y="451713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sintético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80576" y="3904488"/>
            <a:ext cx="1463040" cy="1115568"/>
          </a:xfrm>
          <a:prstGeom prst="roundRect">
            <a:avLst>
              <a:gd name="adj" fmla="val 6557"/>
            </a:avLst>
          </a:prstGeom>
          <a:solidFill>
            <a:srgbClr val="20283D"/>
          </a:solidFill>
          <a:ln w="12700">
            <a:solidFill>
              <a:srgbClr val="35415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90304" y="41605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9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CASO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290304" y="451713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 a punta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650992" y="52029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solo si: 10/12 correctos  ·  0 referencias inexistentes  ·  100% decisión humana registrada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426464" y="5989320"/>
            <a:ext cx="9372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6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construimos IA porque podemos. Construimos después de demostrar que corresponde.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46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Brusasca  ·  AI Agents 2026  ·  Algedi / Architect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Algedi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Algedi Architect — Decidir antes de construir</dc:title>
  <dc:subject>Trabajo Final — AI Agents: de la idea a la implementación</dc:subject>
  <dc:creator>Lucas Brusasca</dc:creator>
  <cp:lastModifiedBy>Lucas Brusasca</cp:lastModifiedBy>
  <cp:revision>1</cp:revision>
  <dcterms:created xsi:type="dcterms:W3CDTF">2026-08-22T23:21:38Z</dcterms:created>
  <dcterms:modified xsi:type="dcterms:W3CDTF">2026-08-22T23:21:38Z</dcterms:modified>
</cp:coreProperties>
</file>